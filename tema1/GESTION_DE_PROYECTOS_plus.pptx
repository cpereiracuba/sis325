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5" r:id="rId8"/>
    <p:sldId id="286" r:id="rId9"/>
    <p:sldId id="287" r:id="rId10"/>
    <p:sldId id="288" r:id="rId11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09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3581400"/>
            <a:ext cx="5638800" cy="19050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DA041D0-AA74-4553-BC81-788A81D9DB01}" type="datetimeFigureOut">
              <a:rPr lang="es-ES"/>
              <a:pPr/>
              <a:t>18/09/2010</a:t>
            </a:fld>
            <a:endParaRPr lang="es-ES"/>
          </a:p>
        </p:txBody>
      </p:sp>
      <p:sp>
        <p:nvSpPr>
          <p:cNvPr id="55300" name="Rectangle 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5301" name="Rectangle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D56BB5B-76C8-4A11-95A7-47B94B1F7A84}" type="slidenum">
              <a:rPr lang="es-ES"/>
              <a:pPr/>
              <a:t>‹Nº›</a:t>
            </a:fld>
            <a:endParaRPr lang="es-ES"/>
          </a:p>
        </p:txBody>
      </p:sp>
      <p:grpSp>
        <p:nvGrpSpPr>
          <p:cNvPr id="55302" name="Group 6"/>
          <p:cNvGrpSpPr>
            <a:grpSpLocks/>
          </p:cNvGrpSpPr>
          <p:nvPr/>
        </p:nvGrpSpPr>
        <p:grpSpPr bwMode="auto">
          <a:xfrm>
            <a:off x="0" y="914400"/>
            <a:ext cx="8686800" cy="2514600"/>
            <a:chOff x="0" y="576"/>
            <a:chExt cx="5472" cy="1584"/>
          </a:xfrm>
        </p:grpSpPr>
        <p:sp>
          <p:nvSpPr>
            <p:cNvPr id="55303" name="Oval 7"/>
            <p:cNvSpPr>
              <a:spLocks noChangeArrowheads="1"/>
            </p:cNvSpPr>
            <p:nvPr/>
          </p:nvSpPr>
          <p:spPr bwMode="auto">
            <a:xfrm>
              <a:off x="144" y="576"/>
              <a:ext cx="1584" cy="1584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s-BO">
                <a:latin typeface="Arial" charset="0"/>
              </a:endParaRPr>
            </a:p>
          </p:txBody>
        </p:sp>
        <p:sp>
          <p:nvSpPr>
            <p:cNvPr id="55304" name="Rectangle 8"/>
            <p:cNvSpPr>
              <a:spLocks noChangeArrowheads="1"/>
            </p:cNvSpPr>
            <p:nvPr/>
          </p:nvSpPr>
          <p:spPr bwMode="hidden">
            <a:xfrm>
              <a:off x="0" y="1056"/>
              <a:ext cx="2976" cy="72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s-BO" sz="2400">
                <a:latin typeface="Times New Roman" pitchFamily="18" charset="0"/>
              </a:endParaRPr>
            </a:p>
          </p:txBody>
        </p:sp>
        <p:sp>
          <p:nvSpPr>
            <p:cNvPr id="55305" name="Rectangle 9"/>
            <p:cNvSpPr>
              <a:spLocks noChangeArrowheads="1"/>
            </p:cNvSpPr>
            <p:nvPr/>
          </p:nvSpPr>
          <p:spPr bwMode="hidden">
            <a:xfrm>
              <a:off x="2496" y="1056"/>
              <a:ext cx="2976" cy="720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s-BO" sz="2400">
                <a:latin typeface="Times New Roman" pitchFamily="18" charset="0"/>
              </a:endParaRPr>
            </a:p>
          </p:txBody>
        </p:sp>
        <p:sp>
          <p:nvSpPr>
            <p:cNvPr id="55306" name="Freeform 10"/>
            <p:cNvSpPr>
              <a:spLocks noChangeArrowheads="1"/>
            </p:cNvSpPr>
            <p:nvPr/>
          </p:nvSpPr>
          <p:spPr bwMode="auto">
            <a:xfrm>
              <a:off x="384" y="960"/>
              <a:ext cx="144" cy="913"/>
            </a:xfrm>
            <a:custGeom>
              <a:avLst/>
              <a:gdLst/>
              <a:ahLst/>
              <a:cxnLst>
                <a:cxn ang="0">
                  <a:pos x="1000" y="1000"/>
                </a:cxn>
                <a:cxn ang="0">
                  <a:pos x="0" y="1000"/>
                </a:cxn>
                <a:cxn ang="0">
                  <a:pos x="0" y="0"/>
                </a:cxn>
                <a:cxn ang="0">
                  <a:pos x="1000" y="0"/>
                </a:cxn>
              </a:cxnLst>
              <a:rect l="0" t="0" r="r" b="b"/>
              <a:pathLst>
                <a:path w="1000" h="1000">
                  <a:moveTo>
                    <a:pt x="1000" y="1000"/>
                  </a:moveTo>
                  <a:lnTo>
                    <a:pt x="0" y="1000"/>
                  </a:lnTo>
                  <a:lnTo>
                    <a:pt x="0" y="0"/>
                  </a:lnTo>
                  <a:lnTo>
                    <a:pt x="1000" y="0"/>
                  </a:lnTo>
                </a:path>
              </a:pathLst>
            </a:custGeom>
            <a:noFill/>
            <a:ln w="76200" cmpd="sng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BO"/>
            </a:p>
          </p:txBody>
        </p:sp>
        <p:sp>
          <p:nvSpPr>
            <p:cNvPr id="55307" name="Freeform 11"/>
            <p:cNvSpPr>
              <a:spLocks noChangeArrowheads="1"/>
            </p:cNvSpPr>
            <p:nvPr/>
          </p:nvSpPr>
          <p:spPr bwMode="auto">
            <a:xfrm>
              <a:off x="4944" y="762"/>
              <a:ext cx="165" cy="8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00" y="0"/>
                </a:cxn>
                <a:cxn ang="0">
                  <a:pos x="1000" y="1000"/>
                </a:cxn>
                <a:cxn ang="0">
                  <a:pos x="0" y="1000"/>
                </a:cxn>
              </a:cxnLst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</a:path>
              </a:pathLst>
            </a:cu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s-BO"/>
            </a:p>
          </p:txBody>
        </p:sp>
      </p:grpSp>
      <p:sp>
        <p:nvSpPr>
          <p:cNvPr id="553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38200" y="1443038"/>
            <a:ext cx="7086600" cy="16002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s-ES"/>
              <a:t>Haga clic para cambiar el estilo de título	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4F8DE5D-FC31-473D-B88D-A8E8838EF377}" type="datetimeFigureOut">
              <a:rPr lang="es-ES"/>
              <a:pPr/>
              <a:t>18/09/2010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998B2D-737B-4D12-9999-4FE2DE195B23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69A80C-E16B-4749-8944-08E22CA91650}" type="datetimeFigureOut">
              <a:rPr lang="es-ES"/>
              <a:pPr/>
              <a:t>18/09/2010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3375C6-4331-4C0A-B0DE-BFB814A3B69F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37544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856163" y="1981200"/>
            <a:ext cx="3754437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3262C28-D7F8-4A3F-AA35-B2B5861BD81B}" type="datetimeFigureOut">
              <a:rPr lang="es-ES"/>
              <a:pPr/>
              <a:t>18/09/2010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3AC537-9E69-4151-A840-15CD8167A71C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08C379-48DB-4137-B892-79660F1D5D14}" type="datetimeFigureOut">
              <a:rPr lang="es-ES"/>
              <a:pPr/>
              <a:t>18/09/2010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945D2A-986F-47AF-868C-7AF8FBB00E2F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8C18F5-19E1-4A4E-B5DA-09B35D189A0F}" type="datetimeFigureOut">
              <a:rPr lang="es-ES"/>
              <a:pPr/>
              <a:t>18/09/2010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8EDCFB-088D-496C-9434-23A2BD36AE4D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E7F324-2A79-46E8-B0EC-45352DD4A20C}" type="datetimeFigureOut">
              <a:rPr lang="es-ES"/>
              <a:pPr/>
              <a:t>18/09/2010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751A79-A9E1-438B-A437-5476D4D4F7B7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90ECCBC-A005-4733-B566-5470D743F1AE}" type="datetimeFigureOut">
              <a:rPr lang="es-ES"/>
              <a:pPr/>
              <a:t>18/09/2010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7914C4-4EB7-49E8-8464-2F7D37D16BD2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FB7A0DF-425E-487F-8965-9FD54D451BD9}" type="datetimeFigureOut">
              <a:rPr lang="es-ES"/>
              <a:pPr/>
              <a:t>18/09/2010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11B2A9-6E3A-40E1-AB6E-51C4836E03E4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72968D-80FE-4FC7-9CF8-A6ACA92D9220}" type="datetimeFigureOut">
              <a:rPr lang="es-ES"/>
              <a:pPr/>
              <a:t>18/09/2010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DD56F6-5C2E-4C88-B406-31691A817983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91313" y="96838"/>
            <a:ext cx="1919287" cy="5999162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31863" y="96838"/>
            <a:ext cx="5607050" cy="5999162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D664DB-B979-4D24-8F7F-009F4B877ECF}" type="datetimeFigureOut">
              <a:rPr lang="es-ES"/>
              <a:pPr/>
              <a:t>18/09/2010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5558B3-3677-42C5-AECF-FAC51C9C9910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s-BO" sz="2400">
              <a:latin typeface="Times New Roman" pitchFamily="18" charset="0"/>
            </a:endParaRPr>
          </a:p>
        </p:txBody>
      </p:sp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s-BO" sz="2400">
              <a:latin typeface="Times New Roman" pitchFamily="18" charset="0"/>
            </a:endParaRPr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31863" y="96838"/>
            <a:ext cx="7158037" cy="141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325" y="1981200"/>
            <a:ext cx="76612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4615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+mn-lt"/>
              </a:defRPr>
            </a:lvl1pPr>
          </a:lstStyle>
          <a:p>
            <a:fld id="{EE7E82D1-0C8A-4D1C-97EC-214692BD4A42}" type="datetimeFigureOut">
              <a:rPr lang="es-ES"/>
              <a:pPr/>
              <a:t>18/09/2010</a:t>
            </a:fld>
            <a:endParaRPr lang="es-ES"/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5428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fld id="{D54EE9BE-62C7-44C9-9996-E7747181C333}" type="slidenum">
              <a:rPr lang="es-ES"/>
              <a:pPr/>
              <a:t>‹Nº›</a:t>
            </a:fld>
            <a:endParaRPr lang="es-ES"/>
          </a:p>
        </p:txBody>
      </p:sp>
      <p:sp>
        <p:nvSpPr>
          <p:cNvPr id="54281" name="Freeform 9"/>
          <p:cNvSpPr>
            <a:spLocks noChangeArrowheads="1"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/>
            <a:ahLst/>
            <a:cxnLst>
              <a:cxn ang="0">
                <a:pos x="1000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76200" cmpd="sng">
            <a:solidFill>
              <a:schemeClr val="tx2"/>
            </a:solidFill>
            <a:miter lim="800000"/>
            <a:headEnd/>
            <a:tailEnd/>
          </a:ln>
        </p:spPr>
        <p:txBody>
          <a:bodyPr/>
          <a:lstStyle/>
          <a:p>
            <a:endParaRPr lang="es-BO"/>
          </a:p>
        </p:txBody>
      </p:sp>
      <p:sp>
        <p:nvSpPr>
          <p:cNvPr id="54282" name="Freeform 10"/>
          <p:cNvSpPr>
            <a:spLocks noChangeArrowheads="1"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0" y="0"/>
              </a:cxn>
              <a:cxn ang="0">
                <a:pos x="1000" y="1000"/>
              </a:cxn>
              <a:cxn ang="0">
                <a:pos x="0" y="1000"/>
              </a:cxn>
            </a:cxnLst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s-B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447675" indent="-44767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439738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¡"/>
        <a:defRPr sz="2800">
          <a:solidFill>
            <a:schemeClr val="tx1"/>
          </a:solidFill>
          <a:latin typeface="+mn-lt"/>
        </a:defRPr>
      </a:lvl2pPr>
      <a:lvl3pPr marL="1293813" indent="-4032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81163" indent="-385763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¡"/>
        <a:defRPr sz="2000">
          <a:solidFill>
            <a:schemeClr val="tx1"/>
          </a:solidFill>
          <a:latin typeface="+mn-lt"/>
        </a:defRPr>
      </a:lvl4pPr>
      <a:lvl5pPr marL="20701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273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845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417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989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 anchor="b" anchorCtr="1"/>
          <a:lstStyle/>
          <a:p>
            <a:r>
              <a:rPr lang="es-ES" sz="4800">
                <a:effectLst>
                  <a:outerShdw blurRad="38100" dist="38100" dir="2700000" algn="tl">
                    <a:srgbClr val="C0C0C0"/>
                  </a:outerShdw>
                </a:effectLst>
              </a:rPr>
              <a:t>GESTIÓN DE PROYECTOS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s-ES">
                <a:effectLst>
                  <a:outerShdw blurRad="38100" dist="38100" dir="2700000" algn="tl">
                    <a:srgbClr val="C0C0C0"/>
                  </a:outerShdw>
                </a:effectLst>
              </a:rPr>
              <a:t>Estructurar tus ideas para hacerlas realidad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3492500" y="1700213"/>
            <a:ext cx="1746250" cy="588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 sz="3200"/>
              <a:t>Proyecto</a:t>
            </a: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3059113" y="2924175"/>
            <a:ext cx="2824162" cy="588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 sz="3200"/>
              <a:t>Administración</a:t>
            </a:r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1692275" y="4005263"/>
            <a:ext cx="1566863" cy="588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 sz="3200"/>
              <a:t>Fracaso</a:t>
            </a:r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5724525" y="4005263"/>
            <a:ext cx="1074738" cy="588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 sz="3200"/>
              <a:t>Éxito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Posibles Opciones</a:t>
            </a:r>
          </a:p>
        </p:txBody>
      </p:sp>
      <p:sp>
        <p:nvSpPr>
          <p:cNvPr id="4105" name="Line 9"/>
          <p:cNvSpPr>
            <a:spLocks noChangeShapeType="1"/>
          </p:cNvSpPr>
          <p:nvPr/>
        </p:nvSpPr>
        <p:spPr bwMode="auto">
          <a:xfrm>
            <a:off x="4356100" y="2276475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4106" name="Line 10"/>
          <p:cNvSpPr>
            <a:spLocks noChangeShapeType="1"/>
          </p:cNvSpPr>
          <p:nvPr/>
        </p:nvSpPr>
        <p:spPr bwMode="auto">
          <a:xfrm>
            <a:off x="5867400" y="3141663"/>
            <a:ext cx="72072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4107" name="Line 11"/>
          <p:cNvSpPr>
            <a:spLocks noChangeShapeType="1"/>
          </p:cNvSpPr>
          <p:nvPr/>
        </p:nvSpPr>
        <p:spPr bwMode="auto">
          <a:xfrm flipH="1">
            <a:off x="1979613" y="3213100"/>
            <a:ext cx="107950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4108" name="Text Box 12"/>
          <p:cNvSpPr txBox="1">
            <a:spLocks noChangeArrowheads="1"/>
          </p:cNvSpPr>
          <p:nvPr/>
        </p:nvSpPr>
        <p:spPr bwMode="auto">
          <a:xfrm>
            <a:off x="0" y="4652963"/>
            <a:ext cx="397510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No culminación</a:t>
            </a:r>
          </a:p>
          <a:p>
            <a:r>
              <a:rPr lang="es-ES"/>
              <a:t>Presupuesto por fuera de lo planeado</a:t>
            </a:r>
          </a:p>
          <a:p>
            <a:r>
              <a:rPr lang="es-ES"/>
              <a:t>Más recursos que los planeados</a:t>
            </a:r>
          </a:p>
        </p:txBody>
      </p:sp>
      <p:sp>
        <p:nvSpPr>
          <p:cNvPr id="4109" name="Text Box 13"/>
          <p:cNvSpPr txBox="1">
            <a:spLocks noChangeArrowheads="1"/>
          </p:cNvSpPr>
          <p:nvPr/>
        </p:nvSpPr>
        <p:spPr bwMode="auto">
          <a:xfrm>
            <a:off x="5168900" y="4724400"/>
            <a:ext cx="3703638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Culminación</a:t>
            </a:r>
          </a:p>
          <a:p>
            <a:r>
              <a:rPr lang="es-ES"/>
              <a:t>Presupuesto dentro de lo planeado</a:t>
            </a:r>
          </a:p>
          <a:p>
            <a:r>
              <a:rPr lang="es-ES"/>
              <a:t>Recursos los planeados</a:t>
            </a:r>
          </a:p>
        </p:txBody>
      </p:sp>
      <p:sp>
        <p:nvSpPr>
          <p:cNvPr id="4110" name="Text Box 14"/>
          <p:cNvSpPr txBox="1">
            <a:spLocks noChangeArrowheads="1"/>
          </p:cNvSpPr>
          <p:nvPr/>
        </p:nvSpPr>
        <p:spPr bwMode="auto">
          <a:xfrm>
            <a:off x="6156325" y="3213100"/>
            <a:ext cx="571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Con</a:t>
            </a:r>
          </a:p>
        </p:txBody>
      </p:sp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2065338" y="3278188"/>
            <a:ext cx="4905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Sin</a:t>
            </a:r>
          </a:p>
        </p:txBody>
      </p:sp>
      <p:sp>
        <p:nvSpPr>
          <p:cNvPr id="4112" name="Text Box 16"/>
          <p:cNvSpPr txBox="1">
            <a:spLocks noChangeArrowheads="1"/>
          </p:cNvSpPr>
          <p:nvPr/>
        </p:nvSpPr>
        <p:spPr bwMode="auto">
          <a:xfrm>
            <a:off x="4427538" y="2349500"/>
            <a:ext cx="10763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Requiere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r>
              <a:rPr lang="es-ES">
                <a:effectLst>
                  <a:outerShdw blurRad="38100" dist="38100" dir="2700000" algn="tl">
                    <a:srgbClr val="C0C0C0"/>
                  </a:outerShdw>
                </a:effectLst>
              </a:rPr>
              <a:t>¿Qué es un proyecto?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1692275" y="1844675"/>
            <a:ext cx="2624138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Conjunto de Actividades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684213" y="2852738"/>
            <a:ext cx="2128837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Recursos Limitados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4211638" y="2852738"/>
            <a:ext cx="181292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Resultado Único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2051050" y="3860800"/>
            <a:ext cx="2300288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Inicio y Fin Definidos</a:t>
            </a:r>
          </a:p>
        </p:txBody>
      </p:sp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6084888" y="5013325"/>
            <a:ext cx="207645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Esfuerzo Temporal</a:t>
            </a:r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5940425" y="3933825"/>
            <a:ext cx="2211388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Elaboración Gradual</a:t>
            </a:r>
          </a:p>
        </p:txBody>
      </p:sp>
      <p:sp>
        <p:nvSpPr>
          <p:cNvPr id="5131" name="Line 11"/>
          <p:cNvSpPr>
            <a:spLocks noChangeShapeType="1"/>
          </p:cNvSpPr>
          <p:nvPr/>
        </p:nvSpPr>
        <p:spPr bwMode="auto">
          <a:xfrm flipH="1">
            <a:off x="1042988" y="2205038"/>
            <a:ext cx="1368425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1958975" y="2292350"/>
            <a:ext cx="9794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que usa</a:t>
            </a:r>
          </a:p>
        </p:txBody>
      </p:sp>
      <p:sp>
        <p:nvSpPr>
          <p:cNvPr id="5133" name="Line 13"/>
          <p:cNvSpPr>
            <a:spLocks noChangeShapeType="1"/>
          </p:cNvSpPr>
          <p:nvPr/>
        </p:nvSpPr>
        <p:spPr bwMode="auto">
          <a:xfrm>
            <a:off x="3924300" y="2205038"/>
            <a:ext cx="129540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5134" name="Text Box 14"/>
          <p:cNvSpPr txBox="1">
            <a:spLocks noChangeArrowheads="1"/>
          </p:cNvSpPr>
          <p:nvPr/>
        </p:nvSpPr>
        <p:spPr bwMode="auto">
          <a:xfrm>
            <a:off x="4500563" y="2133600"/>
            <a:ext cx="14843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para obtener</a:t>
            </a:r>
          </a:p>
        </p:txBody>
      </p:sp>
      <p:sp>
        <p:nvSpPr>
          <p:cNvPr id="5135" name="Line 15"/>
          <p:cNvSpPr>
            <a:spLocks noChangeShapeType="1"/>
          </p:cNvSpPr>
          <p:nvPr/>
        </p:nvSpPr>
        <p:spPr bwMode="auto">
          <a:xfrm>
            <a:off x="3059113" y="2205038"/>
            <a:ext cx="0" cy="1655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5136" name="Text Box 16"/>
          <p:cNvSpPr txBox="1">
            <a:spLocks noChangeArrowheads="1"/>
          </p:cNvSpPr>
          <p:nvPr/>
        </p:nvSpPr>
        <p:spPr bwMode="auto">
          <a:xfrm>
            <a:off x="3040063" y="3300413"/>
            <a:ext cx="15589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estableciendo</a:t>
            </a:r>
          </a:p>
        </p:txBody>
      </p:sp>
      <p:sp>
        <p:nvSpPr>
          <p:cNvPr id="5137" name="Line 17"/>
          <p:cNvSpPr>
            <a:spLocks noChangeShapeType="1"/>
          </p:cNvSpPr>
          <p:nvPr/>
        </p:nvSpPr>
        <p:spPr bwMode="auto">
          <a:xfrm>
            <a:off x="5867400" y="3213100"/>
            <a:ext cx="1081088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5138" name="Text Box 18"/>
          <p:cNvSpPr txBox="1">
            <a:spLocks noChangeArrowheads="1"/>
          </p:cNvSpPr>
          <p:nvPr/>
        </p:nvSpPr>
        <p:spPr bwMode="auto">
          <a:xfrm>
            <a:off x="6351588" y="3227388"/>
            <a:ext cx="11207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mediante</a:t>
            </a:r>
          </a:p>
        </p:txBody>
      </p:sp>
      <p:sp>
        <p:nvSpPr>
          <p:cNvPr id="5139" name="Line 19"/>
          <p:cNvSpPr>
            <a:spLocks noChangeShapeType="1"/>
          </p:cNvSpPr>
          <p:nvPr/>
        </p:nvSpPr>
        <p:spPr bwMode="auto">
          <a:xfrm>
            <a:off x="7451725" y="4292600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5140" name="Text Box 20"/>
          <p:cNvSpPr txBox="1">
            <a:spLocks noChangeArrowheads="1"/>
          </p:cNvSpPr>
          <p:nvPr/>
        </p:nvSpPr>
        <p:spPr bwMode="auto">
          <a:xfrm>
            <a:off x="7432675" y="4379913"/>
            <a:ext cx="539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con</a:t>
            </a:r>
          </a:p>
        </p:txBody>
      </p:sp>
      <p:sp>
        <p:nvSpPr>
          <p:cNvPr id="5141" name="Text Box 21"/>
          <p:cNvSpPr txBox="1">
            <a:spLocks noChangeArrowheads="1"/>
          </p:cNvSpPr>
          <p:nvPr/>
        </p:nvSpPr>
        <p:spPr bwMode="auto">
          <a:xfrm>
            <a:off x="447675" y="5387975"/>
            <a:ext cx="44481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¿Será entonces, que su proyecto de grado</a:t>
            </a:r>
          </a:p>
          <a:p>
            <a:r>
              <a:rPr lang="es-ES"/>
              <a:t>puede encajar en esta definición?</a:t>
            </a:r>
          </a:p>
        </p:txBody>
      </p:sp>
      <p:sp>
        <p:nvSpPr>
          <p:cNvPr id="5142" name="Text Box 22"/>
          <p:cNvSpPr txBox="1">
            <a:spLocks noChangeArrowheads="1"/>
          </p:cNvSpPr>
          <p:nvPr/>
        </p:nvSpPr>
        <p:spPr bwMode="auto">
          <a:xfrm>
            <a:off x="6567488" y="1787525"/>
            <a:ext cx="138112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Interesados</a:t>
            </a:r>
          </a:p>
        </p:txBody>
      </p:sp>
      <p:sp>
        <p:nvSpPr>
          <p:cNvPr id="5143" name="Line 23"/>
          <p:cNvSpPr>
            <a:spLocks noChangeShapeType="1"/>
          </p:cNvSpPr>
          <p:nvPr/>
        </p:nvSpPr>
        <p:spPr bwMode="auto">
          <a:xfrm flipH="1">
            <a:off x="6084888" y="2133600"/>
            <a:ext cx="1008062" cy="790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5144" name="Text Box 24"/>
          <p:cNvSpPr txBox="1">
            <a:spLocks noChangeArrowheads="1"/>
          </p:cNvSpPr>
          <p:nvPr/>
        </p:nvSpPr>
        <p:spPr bwMode="auto">
          <a:xfrm>
            <a:off x="6711950" y="2292350"/>
            <a:ext cx="11350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necesitan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r>
              <a:rPr lang="es-ES">
                <a:effectLst>
                  <a:outerShdw blurRad="38100" dist="38100" dir="2700000" algn="tl">
                    <a:srgbClr val="C0C0C0"/>
                  </a:outerShdw>
                </a:effectLst>
              </a:rPr>
              <a:t>¿Qué es la dirección de proyectos?</a:t>
            </a: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3708400" y="1773238"/>
            <a:ext cx="1655763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Conocimientos</a:t>
            </a:r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3851275" y="2565400"/>
            <a:ext cx="13493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Habilidades</a:t>
            </a: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3779838" y="3284538"/>
            <a:ext cx="1544637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Herramientas</a:t>
            </a:r>
          </a:p>
        </p:txBody>
      </p:sp>
      <p:sp>
        <p:nvSpPr>
          <p:cNvPr id="6152" name="Text Box 8"/>
          <p:cNvSpPr txBox="1">
            <a:spLocks noChangeArrowheads="1"/>
          </p:cNvSpPr>
          <p:nvPr/>
        </p:nvSpPr>
        <p:spPr bwMode="auto">
          <a:xfrm>
            <a:off x="4067175" y="3860800"/>
            <a:ext cx="1058863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Técnicas</a:t>
            </a:r>
          </a:p>
        </p:txBody>
      </p:sp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6588125" y="2781300"/>
            <a:ext cx="132715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Actividades</a:t>
            </a:r>
          </a:p>
        </p:txBody>
      </p:sp>
      <p:sp>
        <p:nvSpPr>
          <p:cNvPr id="6154" name="Text Box 10"/>
          <p:cNvSpPr txBox="1">
            <a:spLocks noChangeArrowheads="1"/>
          </p:cNvSpPr>
          <p:nvPr/>
        </p:nvSpPr>
        <p:spPr bwMode="auto">
          <a:xfrm>
            <a:off x="7092950" y="4005263"/>
            <a:ext cx="1217613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Requisitos</a:t>
            </a:r>
          </a:p>
        </p:txBody>
      </p:sp>
      <p:sp>
        <p:nvSpPr>
          <p:cNvPr id="6155" name="Text Box 11"/>
          <p:cNvSpPr txBox="1">
            <a:spLocks noChangeArrowheads="1"/>
          </p:cNvSpPr>
          <p:nvPr/>
        </p:nvSpPr>
        <p:spPr bwMode="auto">
          <a:xfrm>
            <a:off x="323850" y="2781300"/>
            <a:ext cx="1436688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s-ES"/>
              <a:t>Dirección de</a:t>
            </a:r>
          </a:p>
          <a:p>
            <a:pPr algn="ctr"/>
            <a:r>
              <a:rPr lang="es-ES"/>
              <a:t>Proyectos</a:t>
            </a:r>
          </a:p>
        </p:txBody>
      </p:sp>
      <p:sp>
        <p:nvSpPr>
          <p:cNvPr id="6156" name="Line 12"/>
          <p:cNvSpPr>
            <a:spLocks noChangeShapeType="1"/>
          </p:cNvSpPr>
          <p:nvPr/>
        </p:nvSpPr>
        <p:spPr bwMode="auto">
          <a:xfrm flipV="1">
            <a:off x="1763713" y="2060575"/>
            <a:ext cx="1944687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6157" name="Line 13"/>
          <p:cNvSpPr>
            <a:spLocks noChangeShapeType="1"/>
          </p:cNvSpPr>
          <p:nvPr/>
        </p:nvSpPr>
        <p:spPr bwMode="auto">
          <a:xfrm flipV="1">
            <a:off x="1763713" y="2852738"/>
            <a:ext cx="2087562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6158" name="Line 14"/>
          <p:cNvSpPr>
            <a:spLocks noChangeShapeType="1"/>
          </p:cNvSpPr>
          <p:nvPr/>
        </p:nvSpPr>
        <p:spPr bwMode="auto">
          <a:xfrm>
            <a:off x="1763713" y="3357563"/>
            <a:ext cx="2016125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6159" name="Line 15"/>
          <p:cNvSpPr>
            <a:spLocks noChangeShapeType="1"/>
          </p:cNvSpPr>
          <p:nvPr/>
        </p:nvSpPr>
        <p:spPr bwMode="auto">
          <a:xfrm>
            <a:off x="1763713" y="3429000"/>
            <a:ext cx="2303462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6160" name="Text Box 16"/>
          <p:cNvSpPr txBox="1">
            <a:spLocks noChangeArrowheads="1"/>
          </p:cNvSpPr>
          <p:nvPr/>
        </p:nvSpPr>
        <p:spPr bwMode="auto">
          <a:xfrm>
            <a:off x="1403350" y="2205038"/>
            <a:ext cx="1504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Aplicación de</a:t>
            </a:r>
          </a:p>
        </p:txBody>
      </p:sp>
      <p:sp>
        <p:nvSpPr>
          <p:cNvPr id="6161" name="Line 17"/>
          <p:cNvSpPr>
            <a:spLocks noChangeShapeType="1"/>
          </p:cNvSpPr>
          <p:nvPr/>
        </p:nvSpPr>
        <p:spPr bwMode="auto">
          <a:xfrm>
            <a:off x="5364163" y="1989138"/>
            <a:ext cx="1512887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6162" name="Line 18"/>
          <p:cNvSpPr>
            <a:spLocks noChangeShapeType="1"/>
          </p:cNvSpPr>
          <p:nvPr/>
        </p:nvSpPr>
        <p:spPr bwMode="auto">
          <a:xfrm>
            <a:off x="5219700" y="2852738"/>
            <a:ext cx="1368425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6163" name="Line 19"/>
          <p:cNvSpPr>
            <a:spLocks noChangeShapeType="1"/>
          </p:cNvSpPr>
          <p:nvPr/>
        </p:nvSpPr>
        <p:spPr bwMode="auto">
          <a:xfrm flipV="1">
            <a:off x="5292725" y="3141663"/>
            <a:ext cx="129540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6164" name="Line 20"/>
          <p:cNvSpPr>
            <a:spLocks noChangeShapeType="1"/>
          </p:cNvSpPr>
          <p:nvPr/>
        </p:nvSpPr>
        <p:spPr bwMode="auto">
          <a:xfrm flipV="1">
            <a:off x="5148263" y="3141663"/>
            <a:ext cx="1584325" cy="935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6165" name="Text Box 21"/>
          <p:cNvSpPr txBox="1">
            <a:spLocks noChangeArrowheads="1"/>
          </p:cNvSpPr>
          <p:nvPr/>
        </p:nvSpPr>
        <p:spPr bwMode="auto">
          <a:xfrm>
            <a:off x="5487988" y="2363788"/>
            <a:ext cx="7397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sobre</a:t>
            </a:r>
          </a:p>
        </p:txBody>
      </p:sp>
      <p:sp>
        <p:nvSpPr>
          <p:cNvPr id="6166" name="Line 22"/>
          <p:cNvSpPr>
            <a:spLocks noChangeShapeType="1"/>
          </p:cNvSpPr>
          <p:nvPr/>
        </p:nvSpPr>
        <p:spPr bwMode="auto">
          <a:xfrm>
            <a:off x="7380288" y="3141663"/>
            <a:ext cx="64770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6167" name="Text Box 23"/>
          <p:cNvSpPr txBox="1">
            <a:spLocks noChangeArrowheads="1"/>
          </p:cNvSpPr>
          <p:nvPr/>
        </p:nvSpPr>
        <p:spPr bwMode="auto">
          <a:xfrm>
            <a:off x="7700963" y="3284538"/>
            <a:ext cx="1443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/>
              <a:t>Para cumplir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¿Qué incluye la dirección de proyectos?</a:t>
            </a:r>
          </a:p>
        </p:txBody>
      </p:sp>
      <p:sp>
        <p:nvSpPr>
          <p:cNvPr id="7175" name="Text Box 7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s-ES" sz="2800"/>
              <a:t>Identificar los requisitos </a:t>
            </a:r>
          </a:p>
          <a:p>
            <a:r>
              <a:rPr lang="es-ES" sz="2800"/>
              <a:t>Establecer unos objetivos claros y posibles de realizar </a:t>
            </a:r>
          </a:p>
          <a:p>
            <a:r>
              <a:rPr lang="es-ES" sz="2800"/>
              <a:t>Equilibrar las demandas concurrentes de calidad, alcance, tiempo y costes </a:t>
            </a:r>
          </a:p>
          <a:p>
            <a:r>
              <a:rPr lang="es-ES" sz="2800"/>
              <a:t>Adaptar las especificaciones, los planes y el enfoque a las diversas inquietudes y expectativas de los diferentes interesados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s-ES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4"/>
          <p:cNvSpPr>
            <a:spLocks noGrp="1" noChangeArrowheads="1"/>
          </p:cNvSpPr>
          <p:nvPr>
            <p:ph type="ctrTitle" idx="4294967295"/>
          </p:nvPr>
        </p:nvSpPr>
        <p:spPr/>
        <p:txBody>
          <a:bodyPr anchorCtr="1"/>
          <a:lstStyle/>
          <a:p>
            <a:r>
              <a:rPr lang="es-ES" sz="4800">
                <a:effectLst>
                  <a:outerShdw blurRad="38100" dist="38100" dir="2700000" algn="tl">
                    <a:srgbClr val="C0C0C0"/>
                  </a:outerShdw>
                </a:effectLst>
              </a:rPr>
              <a:t>¿Cómo lo gestiono?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Siguiendo una metodología</a:t>
            </a:r>
          </a:p>
          <a:p>
            <a:pPr lvl="1" algn="just"/>
            <a:r>
              <a:rPr lang="es-ES">
                <a:effectLst>
                  <a:outerShdw blurRad="38100" dist="38100" dir="2700000" algn="tl">
                    <a:srgbClr val="C0C0C0"/>
                  </a:outerShdw>
                </a:effectLst>
              </a:rPr>
              <a:t>Se proporciona una guía para conocer todo el camino a recorrer antes de iniciar</a:t>
            </a:r>
          </a:p>
          <a:p>
            <a:pPr lvl="1" algn="just"/>
            <a:r>
              <a:rPr lang="es-ES">
                <a:effectLst>
                  <a:outerShdw blurRad="38100" dist="38100" dir="2700000" algn="tl">
                    <a:srgbClr val="C0C0C0"/>
                  </a:outerShdw>
                </a:effectLst>
              </a:rPr>
              <a:t>Se asegura la calidad del producto final</a:t>
            </a:r>
          </a:p>
          <a:p>
            <a:pPr lvl="1" algn="just"/>
            <a:r>
              <a:rPr lang="es-ES">
                <a:effectLst>
                  <a:outerShdw blurRad="38100" dist="38100" dir="2700000" algn="tl">
                    <a:srgbClr val="C0C0C0"/>
                  </a:outerShdw>
                </a:effectLst>
              </a:rPr>
              <a:t>Se asegura el cumplimiento de los tiempos establecidos</a:t>
            </a:r>
          </a:p>
          <a:p>
            <a:pPr lvl="1" algn="just"/>
            <a:r>
              <a:rPr lang="es-ES">
                <a:effectLst>
                  <a:outerShdw blurRad="38100" dist="38100" dir="2700000" algn="tl">
                    <a:srgbClr val="C0C0C0"/>
                  </a:outerShdw>
                </a:effectLst>
              </a:rPr>
              <a:t>Se asegura la utilización de los recursos limitados definidos</a:t>
            </a:r>
          </a:p>
          <a:p>
            <a:pPr lvl="1"/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Costos y nivel de personal en un proyecto[1]</a:t>
            </a:r>
          </a:p>
        </p:txBody>
      </p:sp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750" y="1989138"/>
            <a:ext cx="7469188" cy="4119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Influencia de los interesados[1]</a:t>
            </a:r>
          </a:p>
        </p:txBody>
      </p:sp>
      <p:pic>
        <p:nvPicPr>
          <p:cNvPr id="6246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4213" y="1916113"/>
            <a:ext cx="7424737" cy="445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Fases del ciclo de vida de un proyecto[1]</a:t>
            </a:r>
          </a:p>
        </p:txBody>
      </p:sp>
      <p:pic>
        <p:nvPicPr>
          <p:cNvPr id="6349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313" y="2349500"/>
            <a:ext cx="8207375" cy="384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Relación entre los interesados del proyecto[1]</a:t>
            </a:r>
          </a:p>
        </p:txBody>
      </p:sp>
      <p:pic>
        <p:nvPicPr>
          <p:cNvPr id="6451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250" y="1700213"/>
            <a:ext cx="5938838" cy="452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je">
  <a:themeElements>
    <a:clrScheme name="Eje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Ej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je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je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je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je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je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je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je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je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</TotalTime>
  <Words>233</Words>
  <Application>Microsoft Office PowerPoint</Application>
  <PresentationFormat>Presentación en pantalla (4:3)</PresentationFormat>
  <Paragraphs>59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Eje</vt:lpstr>
      <vt:lpstr>GESTIÓN DE PROYECTOS</vt:lpstr>
      <vt:lpstr>Posibles Opciones</vt:lpstr>
      <vt:lpstr>¿Qué es un proyecto?</vt:lpstr>
      <vt:lpstr>¿Qué es la dirección de proyectos?</vt:lpstr>
      <vt:lpstr>¿Qué incluye la dirección de proyectos?</vt:lpstr>
      <vt:lpstr>¿Cómo lo gestiono?</vt:lpstr>
      <vt:lpstr>Costos y nivel de personal en un proyecto[1]</vt:lpstr>
      <vt:lpstr>Influencia de los interesados[1]</vt:lpstr>
      <vt:lpstr>Fases del ciclo de vida de un proyecto[1]</vt:lpstr>
      <vt:lpstr>Relación entre los interesados del proyecto[1]</vt:lpstr>
    </vt:vector>
  </TitlesOfParts>
  <Company>lo mejor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GESTIÓN DE PROYECTOS</dc:title>
  <dc:creator>Angel</dc:creator>
  <cp:lastModifiedBy>Angel</cp:lastModifiedBy>
  <cp:revision>82</cp:revision>
  <dcterms:created xsi:type="dcterms:W3CDTF">2008-08-25T09:41:21Z</dcterms:created>
  <dcterms:modified xsi:type="dcterms:W3CDTF">2010-09-18T04:45:10Z</dcterms:modified>
</cp:coreProperties>
</file>